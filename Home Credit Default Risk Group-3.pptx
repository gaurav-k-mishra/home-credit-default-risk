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0" r:id="rId16"/>
  </p:sldIdLst>
  <p:sldSz cx="18288000" cy="10287000"/>
  <p:notesSz cx="6858000" cy="9144000"/>
  <p:embeddedFontLst>
    <p:embeddedFont>
      <p:font typeface="Urbanist" panose="020B0A04040200000203" pitchFamily="34" charset="77"/>
      <p:regular r:id="rId18"/>
      <p:bold r:id="rId19"/>
      <p:italic r:id="rId20"/>
      <p:boldItalic r:id="rId21"/>
    </p:embeddedFont>
    <p:embeddedFont>
      <p:font typeface="Urbanist Medium" panose="020B0A04040200000203" pitchFamily="34" charset="77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QWcpZGCLT6uJkwGDBSomqiJpJ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F00DA4-FAFD-4F70-B3F1-8E9F5148B011}">
  <a:tblStyle styleId="{F3F00DA4-FAFD-4F70-B3F1-8E9F5148B0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81"/>
  </p:normalViewPr>
  <p:slideViewPr>
    <p:cSldViewPr snapToGrid="0">
      <p:cViewPr varScale="1">
        <p:scale>
          <a:sx n="77" d="100"/>
          <a:sy n="77" d="100"/>
        </p:scale>
        <p:origin x="216" y="9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30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9cd81bca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a9cd81bca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9cd81bcaf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a9cd81bcaf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9cd81bcaf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a9cd81bcaf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9cd81bca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3a9cd81bca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9c633123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99c633123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5add9cd1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a5add9cd1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2A16BC9D-1BDD-D7FF-5DE5-8364722F8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e02aae0e2_0_3:notes">
            <a:extLst>
              <a:ext uri="{FF2B5EF4-FFF2-40B4-BE49-F238E27FC236}">
                <a16:creationId xmlns:a16="http://schemas.microsoft.com/office/drawing/2014/main" id="{D11DC5A7-78F8-9828-6B02-D0900C21D9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g3ae02aae0e2_0_3:notes">
            <a:extLst>
              <a:ext uri="{FF2B5EF4-FFF2-40B4-BE49-F238E27FC236}">
                <a16:creationId xmlns:a16="http://schemas.microsoft.com/office/drawing/2014/main" id="{140626F7-9642-EBF0-7A41-7256C77EA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221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A4D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105804" y="253774"/>
            <a:ext cx="6332566" cy="9779452"/>
          </a:xfrm>
          <a:custGeom>
            <a:avLst/>
            <a:gdLst/>
            <a:ahLst/>
            <a:cxnLst/>
            <a:rect l="l" t="t" r="r" b="b"/>
            <a:pathLst>
              <a:path w="1863594" h="2782841" extrusionOk="0">
                <a:moveTo>
                  <a:pt x="1376152" y="0"/>
                </a:moveTo>
                <a:lnTo>
                  <a:pt x="177673" y="0"/>
                </a:lnTo>
                <a:cubicBezTo>
                  <a:pt x="79547" y="0"/>
                  <a:pt x="0" y="79547"/>
                  <a:pt x="0" y="177673"/>
                </a:cubicBezTo>
                <a:lnTo>
                  <a:pt x="0" y="2605167"/>
                </a:lnTo>
                <a:cubicBezTo>
                  <a:pt x="0" y="2703293"/>
                  <a:pt x="79547" y="2782840"/>
                  <a:pt x="177673" y="2782840"/>
                </a:cubicBezTo>
                <a:lnTo>
                  <a:pt x="1685921" y="2782840"/>
                </a:lnTo>
                <a:cubicBezTo>
                  <a:pt x="1784047" y="2782840"/>
                  <a:pt x="1863594" y="2703293"/>
                  <a:pt x="1863594" y="2605167"/>
                </a:cubicBezTo>
                <a:lnTo>
                  <a:pt x="1863594" y="523958"/>
                </a:lnTo>
                <a:cubicBezTo>
                  <a:pt x="1863594" y="480251"/>
                  <a:pt x="1847484" y="438079"/>
                  <a:pt x="1818345" y="405503"/>
                </a:cubicBezTo>
                <a:lnTo>
                  <a:pt x="1508568" y="59214"/>
                </a:lnTo>
                <a:cubicBezTo>
                  <a:pt x="1474864" y="21536"/>
                  <a:pt x="1426705" y="0"/>
                  <a:pt x="1376152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61" b="-160"/>
            </a:stretch>
          </a:blip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1"/>
          <p:cNvGrpSpPr/>
          <p:nvPr/>
        </p:nvGrpSpPr>
        <p:grpSpPr>
          <a:xfrm>
            <a:off x="666750" y="1024975"/>
            <a:ext cx="9887175" cy="5047475"/>
            <a:chOff x="0" y="477633"/>
            <a:chExt cx="13182900" cy="6729967"/>
          </a:xfrm>
        </p:grpSpPr>
        <p:sp>
          <p:nvSpPr>
            <p:cNvPr id="86" name="Google Shape;86;p1"/>
            <p:cNvSpPr txBox="1"/>
            <p:nvPr/>
          </p:nvSpPr>
          <p:spPr>
            <a:xfrm>
              <a:off x="0" y="477633"/>
              <a:ext cx="13182900" cy="492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 b="1" i="0" u="none" strike="noStrike" cap="none">
                  <a:solidFill>
                    <a:srgbClr val="ECF3FB"/>
                  </a:solidFill>
                  <a:latin typeface="Arial"/>
                  <a:ea typeface="Arial"/>
                  <a:cs typeface="Arial"/>
                  <a:sym typeface="Arial"/>
                </a:rPr>
                <a:t>Home Credit Default Risk</a:t>
              </a:r>
              <a:endParaRPr sz="12000"/>
            </a:p>
          </p:txBody>
        </p:sp>
        <p:sp>
          <p:nvSpPr>
            <p:cNvPr id="87" name="Google Shape;87;p1"/>
            <p:cNvSpPr txBox="1"/>
            <p:nvPr/>
          </p:nvSpPr>
          <p:spPr>
            <a:xfrm>
              <a:off x="2000383" y="6181300"/>
              <a:ext cx="9182100" cy="102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000">
                  <a:solidFill>
                    <a:srgbClr val="D1E8EA"/>
                  </a:solidFill>
                </a:rPr>
                <a:t>IS 6812 Presentation</a:t>
              </a:r>
              <a:endParaRPr sz="5000"/>
            </a:p>
          </p:txBody>
        </p:sp>
      </p:grpSp>
      <p:sp>
        <p:nvSpPr>
          <p:cNvPr id="88" name="Google Shape;88;p1"/>
          <p:cNvSpPr txBox="1"/>
          <p:nvPr/>
        </p:nvSpPr>
        <p:spPr>
          <a:xfrm>
            <a:off x="1493587" y="6986763"/>
            <a:ext cx="8233474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D1E8EA"/>
                </a:solidFill>
              </a:rPr>
              <a:t>Amiya Ranjan Sahoo 		Gaurav Mishra</a:t>
            </a:r>
            <a:endParaRPr sz="3000" dirty="0">
              <a:solidFill>
                <a:srgbClr val="D1E8EA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rgbClr val="D1E8EA"/>
                </a:solidFill>
              </a:rPr>
              <a:t>Jeffrey Zhang				Rob Sheehy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/>
        </p:nvSpPr>
        <p:spPr>
          <a:xfrm>
            <a:off x="2922525" y="1034950"/>
            <a:ext cx="124428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>
                <a:solidFill>
                  <a:srgbClr val="ECF3FB"/>
                </a:solidFill>
              </a:rPr>
              <a:t>The Business Problem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1138185" y="3296174"/>
            <a:ext cx="8421900" cy="49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191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 dirty="0">
                <a:solidFill>
                  <a:srgbClr val="D1E8EA"/>
                </a:solidFill>
              </a:rPr>
              <a:t>Lenders often can’t easily identify default applicants</a:t>
            </a:r>
            <a:endParaRPr sz="3000" dirty="0">
              <a:solidFill>
                <a:srgbClr val="D1E8EA"/>
              </a:solidFill>
            </a:endParaRPr>
          </a:p>
          <a:p>
            <a:pPr marL="45720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rgbClr val="D1E8EA"/>
              </a:solidFill>
            </a:endParaRPr>
          </a:p>
          <a:p>
            <a:pPr marL="457200" marR="0" lvl="0" indent="-4191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 dirty="0">
                <a:solidFill>
                  <a:srgbClr val="D1E8EA"/>
                </a:solidFill>
              </a:rPr>
              <a:t>Misclassifying risky borrowers leads to avoidable financial losses</a:t>
            </a:r>
            <a:endParaRPr sz="3000" dirty="0">
              <a:solidFill>
                <a:srgbClr val="D1E8EA"/>
              </a:solidFill>
            </a:endParaRPr>
          </a:p>
          <a:p>
            <a:pPr marL="0" marR="0" lvl="0" indent="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dirty="0">
              <a:solidFill>
                <a:srgbClr val="D1E8EA"/>
              </a:solidFill>
            </a:endParaRPr>
          </a:p>
          <a:p>
            <a:pPr marL="457200" marR="0" lvl="0" indent="-4191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 dirty="0">
                <a:solidFill>
                  <a:srgbClr val="D1E8EA"/>
                </a:solidFill>
              </a:rPr>
              <a:t>HC needs a reliable way to predict default risk before approving loans</a:t>
            </a:r>
            <a:endParaRPr sz="3000" dirty="0">
              <a:solidFill>
                <a:srgbClr val="D1E8EA"/>
              </a:solidFill>
            </a:endParaRPr>
          </a:p>
        </p:txBody>
      </p:sp>
      <p:pic>
        <p:nvPicPr>
          <p:cNvPr id="3" name="Picture 2" descr="A money bag and a paper house on a scale&#10;&#10;AI-generated content may be incorrect.">
            <a:extLst>
              <a:ext uri="{FF2B5EF4-FFF2-40B4-BE49-F238E27FC236}">
                <a16:creationId xmlns:a16="http://schemas.microsoft.com/office/drawing/2014/main" id="{6F9F3267-5680-FFB1-419E-5E14D2B29C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34"/>
          <a:stretch>
            <a:fillRect/>
          </a:stretch>
        </p:blipFill>
        <p:spPr>
          <a:xfrm>
            <a:off x="10411795" y="3480925"/>
            <a:ext cx="7506624" cy="41719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cd81bcaf_0_12"/>
          <p:cNvSpPr txBox="1"/>
          <p:nvPr/>
        </p:nvSpPr>
        <p:spPr>
          <a:xfrm>
            <a:off x="2922525" y="1034950"/>
            <a:ext cx="124428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>
                <a:solidFill>
                  <a:srgbClr val="ECF3FB"/>
                </a:solidFill>
              </a:rPr>
              <a:t>What We Built</a:t>
            </a:r>
            <a:endParaRPr/>
          </a:p>
        </p:txBody>
      </p:sp>
      <p:pic>
        <p:nvPicPr>
          <p:cNvPr id="101" name="Google Shape;101;g3a9cd81bcaf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0913" y="3742475"/>
            <a:ext cx="14566025" cy="372065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a9cd81bcaf_0_12"/>
          <p:cNvSpPr txBox="1"/>
          <p:nvPr/>
        </p:nvSpPr>
        <p:spPr>
          <a:xfrm>
            <a:off x="1860925" y="7557200"/>
            <a:ext cx="3451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1E8EA"/>
                </a:solidFill>
              </a:rPr>
              <a:t>Predicts probability of default</a:t>
            </a:r>
            <a:endParaRPr sz="3000">
              <a:solidFill>
                <a:srgbClr val="D1E8EA"/>
              </a:solidFill>
            </a:endParaRPr>
          </a:p>
        </p:txBody>
      </p:sp>
      <p:sp>
        <p:nvSpPr>
          <p:cNvPr id="103" name="Google Shape;103;g3a9cd81bcaf_0_12"/>
          <p:cNvSpPr txBox="1"/>
          <p:nvPr/>
        </p:nvSpPr>
        <p:spPr>
          <a:xfrm>
            <a:off x="7347805" y="7557210"/>
            <a:ext cx="3451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1E8EA"/>
                </a:solidFill>
              </a:rPr>
              <a:t>Approve / Review / Decline</a:t>
            </a:r>
            <a:endParaRPr sz="3000">
              <a:solidFill>
                <a:srgbClr val="D1E8EA"/>
              </a:solidFill>
            </a:endParaRPr>
          </a:p>
        </p:txBody>
      </p:sp>
      <p:sp>
        <p:nvSpPr>
          <p:cNvPr id="104" name="Google Shape;104;g3a9cd81bcaf_0_12"/>
          <p:cNvSpPr txBox="1"/>
          <p:nvPr/>
        </p:nvSpPr>
        <p:spPr>
          <a:xfrm>
            <a:off x="12975160" y="7557206"/>
            <a:ext cx="34518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D1E8EA"/>
                </a:solidFill>
              </a:rPr>
              <a:t>Lower losses &amp; improves approvals</a:t>
            </a:r>
            <a:endParaRPr sz="3000">
              <a:solidFill>
                <a:srgbClr val="D1E8E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F938F87-3EFD-51B6-F471-4E328C5FFDCE}"/>
              </a:ext>
            </a:extLst>
          </p:cNvPr>
          <p:cNvSpPr/>
          <p:nvPr/>
        </p:nvSpPr>
        <p:spPr>
          <a:xfrm>
            <a:off x="303829" y="3189558"/>
            <a:ext cx="9027938" cy="511407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Google Shape;109;g3a9cd81bcaf_0_22"/>
          <p:cNvSpPr txBox="1"/>
          <p:nvPr/>
        </p:nvSpPr>
        <p:spPr>
          <a:xfrm>
            <a:off x="2922525" y="1034950"/>
            <a:ext cx="124428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>
                <a:solidFill>
                  <a:srgbClr val="ECF3FB"/>
                </a:solidFill>
              </a:rPr>
              <a:t>Key Business Results</a:t>
            </a:r>
            <a:endParaRPr/>
          </a:p>
        </p:txBody>
      </p:sp>
      <p:sp>
        <p:nvSpPr>
          <p:cNvPr id="110" name="Google Shape;110;g3a9cd81bcaf_0_22"/>
          <p:cNvSpPr txBox="1"/>
          <p:nvPr/>
        </p:nvSpPr>
        <p:spPr>
          <a:xfrm>
            <a:off x="1748975" y="3563200"/>
            <a:ext cx="8163900" cy="83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 b="1" dirty="0">
                <a:solidFill>
                  <a:schemeClr val="tx1"/>
                </a:solidFill>
              </a:rPr>
              <a:t>Before vs. After (Model Impact)</a:t>
            </a:r>
            <a:endParaRPr sz="3000" b="1" dirty="0">
              <a:solidFill>
                <a:schemeClr val="tx1"/>
              </a:solidFill>
            </a:endParaRPr>
          </a:p>
        </p:txBody>
      </p:sp>
      <p:graphicFrame>
        <p:nvGraphicFramePr>
          <p:cNvPr id="111" name="Google Shape;111;g3a9cd81bcaf_0_22"/>
          <p:cNvGraphicFramePr/>
          <p:nvPr>
            <p:extLst>
              <p:ext uri="{D42A27DB-BD31-4B8C-83A1-F6EECF244321}">
                <p14:modId xmlns:p14="http://schemas.microsoft.com/office/powerpoint/2010/main" val="605330320"/>
              </p:ext>
            </p:extLst>
          </p:nvPr>
        </p:nvGraphicFramePr>
        <p:xfrm>
          <a:off x="9849967" y="3189558"/>
          <a:ext cx="8134204" cy="4956916"/>
        </p:xfrm>
        <a:graphic>
          <a:graphicData uri="http://schemas.openxmlformats.org/drawingml/2006/table">
            <a:tbl>
              <a:tblPr>
                <a:noFill/>
                <a:tableStyleId>{F3F00DA4-FAFD-4F70-B3F1-8E9F5148B011}</a:tableStyleId>
              </a:tblPr>
              <a:tblGrid>
                <a:gridCol w="449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64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35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chemeClr val="lt1"/>
                          </a:solidFill>
                        </a:rPr>
                        <a:t>Metric</a:t>
                      </a:r>
                      <a:endParaRPr sz="2800" b="1" dirty="0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chemeClr val="lt1"/>
                          </a:solidFill>
                        </a:rPr>
                        <a:t>Value</a:t>
                      </a:r>
                      <a:endParaRPr sz="2800" b="1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256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dirty="0">
                          <a:solidFill>
                            <a:schemeClr val="lt1"/>
                          </a:solidFill>
                        </a:rPr>
                        <a:t>Default Rate Reduced</a:t>
                      </a:r>
                      <a:endParaRPr sz="2800" b="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dirty="0">
                          <a:solidFill>
                            <a:schemeClr val="lt1"/>
                          </a:solidFill>
                        </a:rPr>
                        <a:t>8.1% → 2.9%</a:t>
                      </a:r>
                      <a:endParaRPr sz="2800" b="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35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>
                          <a:solidFill>
                            <a:schemeClr val="lt1"/>
                          </a:solidFill>
                        </a:rPr>
                        <a:t>Defaults Prevented</a:t>
                      </a:r>
                      <a:endParaRPr sz="2800" b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dirty="0">
                          <a:solidFill>
                            <a:schemeClr val="lt1"/>
                          </a:solidFill>
                        </a:rPr>
                        <a:t>4,807 annually</a:t>
                      </a:r>
                      <a:endParaRPr sz="2800" b="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35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>
                          <a:solidFill>
                            <a:schemeClr val="lt1"/>
                          </a:solidFill>
                        </a:rPr>
                        <a:t>Annual Savings</a:t>
                      </a:r>
                      <a:endParaRPr sz="2800" b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dirty="0">
                          <a:solidFill>
                            <a:schemeClr val="lt1"/>
                          </a:solidFill>
                        </a:rPr>
                        <a:t>$38.5 M</a:t>
                      </a:r>
                      <a:endParaRPr sz="2800" b="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358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dirty="0">
                          <a:solidFill>
                            <a:schemeClr val="lt1"/>
                          </a:solidFill>
                        </a:rPr>
                        <a:t>Loss Reduction</a:t>
                      </a:r>
                      <a:endParaRPr sz="2800" b="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dirty="0">
                          <a:solidFill>
                            <a:schemeClr val="lt1"/>
                          </a:solidFill>
                        </a:rPr>
                        <a:t>65%</a:t>
                      </a:r>
                      <a:endParaRPr sz="2800" b="0" dirty="0"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2" name="Google Shape;112;g3a9cd81bcaf_0_22"/>
          <p:cNvSpPr txBox="1"/>
          <p:nvPr/>
        </p:nvSpPr>
        <p:spPr>
          <a:xfrm>
            <a:off x="594875" y="4414500"/>
            <a:ext cx="4082100" cy="243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None/>
            </a:pPr>
            <a:r>
              <a:rPr lang="en-US" sz="3000" dirty="0">
                <a:solidFill>
                  <a:schemeClr val="tx1"/>
                </a:solidFill>
              </a:rPr>
              <a:t>Baseline (Before Model)</a:t>
            </a:r>
            <a:endParaRPr sz="3000" dirty="0">
              <a:solidFill>
                <a:schemeClr val="tx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Default rate: 8.1%</a:t>
            </a:r>
            <a:endParaRPr sz="3000" dirty="0">
              <a:solidFill>
                <a:schemeClr val="tx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Annual defaults: 7,447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113" name="Google Shape;113;g3a9cd81bcaf_0_22"/>
          <p:cNvSpPr txBox="1"/>
          <p:nvPr/>
        </p:nvSpPr>
        <p:spPr>
          <a:xfrm>
            <a:off x="5195175" y="4414500"/>
            <a:ext cx="4239900" cy="2962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None/>
            </a:pPr>
            <a:r>
              <a:rPr lang="en-US" sz="3000" dirty="0">
                <a:solidFill>
                  <a:schemeClr val="tx1"/>
                </a:solidFill>
              </a:rPr>
              <a:t>With Model (After Implementation)</a:t>
            </a:r>
            <a:endParaRPr sz="3000" dirty="0">
              <a:solidFill>
                <a:schemeClr val="tx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Default rate: 2.9%</a:t>
            </a:r>
            <a:endParaRPr sz="3000" dirty="0">
              <a:solidFill>
                <a:schemeClr val="tx1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Annual defaults: 2,640</a:t>
            </a:r>
            <a:endParaRPr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9cd81bcaf_0_34"/>
          <p:cNvSpPr/>
          <p:nvPr/>
        </p:nvSpPr>
        <p:spPr>
          <a:xfrm>
            <a:off x="1599000" y="2046231"/>
            <a:ext cx="4776000" cy="291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1E8E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a9cd81bcaf_0_34"/>
          <p:cNvSpPr/>
          <p:nvPr/>
        </p:nvSpPr>
        <p:spPr>
          <a:xfrm>
            <a:off x="6756000" y="2046225"/>
            <a:ext cx="4776000" cy="291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1E8E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a9cd81bcaf_0_34"/>
          <p:cNvSpPr/>
          <p:nvPr/>
        </p:nvSpPr>
        <p:spPr>
          <a:xfrm>
            <a:off x="11913000" y="2211237"/>
            <a:ext cx="4776000" cy="2916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1E8EA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a9cd81bcaf_0_34"/>
          <p:cNvSpPr txBox="1"/>
          <p:nvPr/>
        </p:nvSpPr>
        <p:spPr>
          <a:xfrm>
            <a:off x="2690750" y="3148389"/>
            <a:ext cx="1992000" cy="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Data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a9cd81bcaf_0_34"/>
          <p:cNvSpPr txBox="1"/>
          <p:nvPr/>
        </p:nvSpPr>
        <p:spPr>
          <a:xfrm>
            <a:off x="7735501" y="3196225"/>
            <a:ext cx="2212200" cy="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Model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a9cd81bcaf_0_34"/>
          <p:cNvSpPr txBox="1"/>
          <p:nvPr/>
        </p:nvSpPr>
        <p:spPr>
          <a:xfrm>
            <a:off x="12780225" y="3314388"/>
            <a:ext cx="2747100" cy="7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Action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a9cd81bcaf_0_34"/>
          <p:cNvSpPr txBox="1"/>
          <p:nvPr/>
        </p:nvSpPr>
        <p:spPr>
          <a:xfrm>
            <a:off x="1645700" y="5778100"/>
            <a:ext cx="4082100" cy="25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Applicant demographics</a:t>
            </a:r>
            <a:endParaRPr sz="3000">
              <a:solidFill>
                <a:srgbClr val="D1E8EA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Financial + Credit History</a:t>
            </a:r>
            <a:endParaRPr sz="3000">
              <a:solidFill>
                <a:srgbClr val="D1E8EA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Payment behavior</a:t>
            </a:r>
            <a:endParaRPr sz="3000">
              <a:solidFill>
                <a:srgbClr val="D1E8EA"/>
              </a:solidFill>
            </a:endParaRPr>
          </a:p>
        </p:txBody>
      </p:sp>
      <p:sp>
        <p:nvSpPr>
          <p:cNvPr id="125" name="Google Shape;125;g3a9cd81bcaf_0_34"/>
          <p:cNvSpPr txBox="1"/>
          <p:nvPr/>
        </p:nvSpPr>
        <p:spPr>
          <a:xfrm>
            <a:off x="6690450" y="5778100"/>
            <a:ext cx="4014300" cy="205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Calculates a risk score (0-1)</a:t>
            </a:r>
            <a:endParaRPr sz="3000">
              <a:solidFill>
                <a:srgbClr val="D1E8EA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Higher score = higher risk </a:t>
            </a:r>
            <a:endParaRPr sz="3000">
              <a:solidFill>
                <a:srgbClr val="D1E8EA"/>
              </a:solidFill>
            </a:endParaRPr>
          </a:p>
        </p:txBody>
      </p:sp>
      <p:sp>
        <p:nvSpPr>
          <p:cNvPr id="126" name="Google Shape;126;g3a9cd81bcaf_0_34"/>
          <p:cNvSpPr txBox="1"/>
          <p:nvPr/>
        </p:nvSpPr>
        <p:spPr>
          <a:xfrm>
            <a:off x="12112725" y="5778100"/>
            <a:ext cx="49056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19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Low score → Approve</a:t>
            </a:r>
            <a:endParaRPr sz="3000">
              <a:solidFill>
                <a:srgbClr val="D1E8EA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Medium score → Review</a:t>
            </a:r>
            <a:endParaRPr sz="3000">
              <a:solidFill>
                <a:srgbClr val="D1E8EA"/>
              </a:solidFill>
            </a:endParaRPr>
          </a:p>
          <a:p>
            <a:pPr marL="457200" lvl="0" indent="-419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1E8EA"/>
              </a:buClr>
              <a:buSzPts val="3000"/>
              <a:buChar char="●"/>
            </a:pPr>
            <a:r>
              <a:rPr lang="en-US" sz="3000">
                <a:solidFill>
                  <a:srgbClr val="D1E8EA"/>
                </a:solidFill>
              </a:rPr>
              <a:t>High score → Decline</a:t>
            </a:r>
            <a:endParaRPr sz="3000">
              <a:solidFill>
                <a:srgbClr val="D1E8E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C63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6"/>
          <p:cNvGrpSpPr/>
          <p:nvPr/>
        </p:nvGrpSpPr>
        <p:grpSpPr>
          <a:xfrm>
            <a:off x="666750" y="3316635"/>
            <a:ext cx="4010025" cy="6303615"/>
            <a:chOff x="0" y="-9525"/>
            <a:chExt cx="1056138" cy="1660211"/>
          </a:xfrm>
        </p:grpSpPr>
        <p:sp>
          <p:nvSpPr>
            <p:cNvPr id="132" name="Google Shape;132;p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 extrusionOk="0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F6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6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6"/>
          <p:cNvGrpSpPr/>
          <p:nvPr/>
        </p:nvGrpSpPr>
        <p:grpSpPr>
          <a:xfrm>
            <a:off x="4981575" y="3316635"/>
            <a:ext cx="4010025" cy="6303615"/>
            <a:chOff x="0" y="-9525"/>
            <a:chExt cx="1056138" cy="1660211"/>
          </a:xfrm>
        </p:grpSpPr>
        <p:sp>
          <p:nvSpPr>
            <p:cNvPr id="135" name="Google Shape;135;p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 extrusionOk="0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053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6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6"/>
          <p:cNvGrpSpPr/>
          <p:nvPr/>
        </p:nvGrpSpPr>
        <p:grpSpPr>
          <a:xfrm>
            <a:off x="9296400" y="3316635"/>
            <a:ext cx="4010025" cy="6303615"/>
            <a:chOff x="0" y="-9525"/>
            <a:chExt cx="1056138" cy="1660211"/>
          </a:xfrm>
        </p:grpSpPr>
        <p:sp>
          <p:nvSpPr>
            <p:cNvPr id="138" name="Google Shape;138;p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 extrusionOk="0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1F6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6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6"/>
          <p:cNvGrpSpPr/>
          <p:nvPr/>
        </p:nvGrpSpPr>
        <p:grpSpPr>
          <a:xfrm>
            <a:off x="13611225" y="3316635"/>
            <a:ext cx="4010025" cy="6303615"/>
            <a:chOff x="0" y="-9525"/>
            <a:chExt cx="1056138" cy="1660211"/>
          </a:xfrm>
        </p:grpSpPr>
        <p:sp>
          <p:nvSpPr>
            <p:cNvPr id="141" name="Google Shape;141;p6"/>
            <p:cNvSpPr/>
            <p:nvPr/>
          </p:nvSpPr>
          <p:spPr>
            <a:xfrm>
              <a:off x="0" y="0"/>
              <a:ext cx="1056138" cy="1650686"/>
            </a:xfrm>
            <a:custGeom>
              <a:avLst/>
              <a:gdLst/>
              <a:ahLst/>
              <a:cxnLst/>
              <a:rect l="l" t="t" r="r" b="b"/>
              <a:pathLst>
                <a:path w="1056138" h="1650686" extrusionOk="0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053A4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6"/>
            <p:cNvSpPr txBox="1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6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ECF3FB"/>
                </a:solidFill>
                <a:latin typeface="Arial"/>
                <a:ea typeface="Arial"/>
                <a:cs typeface="Arial"/>
                <a:sym typeface="Arial"/>
              </a:rPr>
              <a:t>Key Drivers</a:t>
            </a:r>
            <a:endParaRPr/>
          </a:p>
        </p:txBody>
      </p:sp>
      <p:grpSp>
        <p:nvGrpSpPr>
          <p:cNvPr id="144" name="Google Shape;144;p6"/>
          <p:cNvGrpSpPr/>
          <p:nvPr/>
        </p:nvGrpSpPr>
        <p:grpSpPr>
          <a:xfrm>
            <a:off x="869769" y="6048375"/>
            <a:ext cx="3603986" cy="1851025"/>
            <a:chOff x="0" y="38100"/>
            <a:chExt cx="4805315" cy="2468033"/>
          </a:xfrm>
        </p:grpSpPr>
        <p:sp>
          <p:nvSpPr>
            <p:cNvPr id="145" name="Google Shape;145;p6"/>
            <p:cNvSpPr txBox="1"/>
            <p:nvPr/>
          </p:nvSpPr>
          <p:spPr>
            <a:xfrm>
              <a:off x="0" y="38100"/>
              <a:ext cx="4805315" cy="11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i="0" u="none" strike="noStrike" cap="none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Ratio</a:t>
              </a:r>
              <a:endParaRPr/>
            </a:p>
          </p:txBody>
        </p:sp>
        <p:sp>
          <p:nvSpPr>
            <p:cNvPr id="146" name="Google Shape;146;p6"/>
            <p:cNvSpPr txBox="1"/>
            <p:nvPr/>
          </p:nvSpPr>
          <p:spPr>
            <a:xfrm>
              <a:off x="381588" y="1327150"/>
              <a:ext cx="4042139" cy="1178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Measures financial health effectively</a:t>
              </a:r>
              <a:endParaRPr dirty="0"/>
            </a:p>
          </p:txBody>
        </p:sp>
      </p:grpSp>
      <p:grpSp>
        <p:nvGrpSpPr>
          <p:cNvPr id="147" name="Google Shape;147;p6"/>
          <p:cNvGrpSpPr/>
          <p:nvPr/>
        </p:nvGrpSpPr>
        <p:grpSpPr>
          <a:xfrm>
            <a:off x="5470786" y="6048375"/>
            <a:ext cx="3031604" cy="1851025"/>
            <a:chOff x="0" y="38100"/>
            <a:chExt cx="4042139" cy="2468033"/>
          </a:xfrm>
        </p:grpSpPr>
        <p:sp>
          <p:nvSpPr>
            <p:cNvPr id="148" name="Google Shape;148;p6"/>
            <p:cNvSpPr txBox="1"/>
            <p:nvPr/>
          </p:nvSpPr>
          <p:spPr>
            <a:xfrm>
              <a:off x="0" y="38100"/>
              <a:ext cx="4042139" cy="11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i="0" u="none" strike="noStrike" cap="none" dirty="0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History</a:t>
              </a:r>
              <a:endParaRPr dirty="0"/>
            </a:p>
          </p:txBody>
        </p:sp>
        <p:sp>
          <p:nvSpPr>
            <p:cNvPr id="149" name="Google Shape;149;p6"/>
            <p:cNvSpPr txBox="1"/>
            <p:nvPr/>
          </p:nvSpPr>
          <p:spPr>
            <a:xfrm>
              <a:off x="0" y="1327150"/>
              <a:ext cx="4042139" cy="1178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Past delinquencies indicate risk</a:t>
              </a:r>
              <a:endParaRPr dirty="0"/>
            </a:p>
          </p:txBody>
        </p:sp>
      </p:grpSp>
      <p:grpSp>
        <p:nvGrpSpPr>
          <p:cNvPr id="150" name="Google Shape;150;p6"/>
          <p:cNvGrpSpPr/>
          <p:nvPr/>
        </p:nvGrpSpPr>
        <p:grpSpPr>
          <a:xfrm>
            <a:off x="9785611" y="6048375"/>
            <a:ext cx="3031650" cy="1851038"/>
            <a:chOff x="0" y="38100"/>
            <a:chExt cx="4042200" cy="2468050"/>
          </a:xfrm>
        </p:grpSpPr>
        <p:sp>
          <p:nvSpPr>
            <p:cNvPr id="151" name="Google Shape;151;p6"/>
            <p:cNvSpPr txBox="1"/>
            <p:nvPr/>
          </p:nvSpPr>
          <p:spPr>
            <a:xfrm>
              <a:off x="0" y="38100"/>
              <a:ext cx="4042200" cy="11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i="0" u="none" strike="noStrike" cap="none" dirty="0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Length</a:t>
              </a:r>
              <a:endParaRPr dirty="0"/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0" y="1327150"/>
              <a:ext cx="4042200" cy="117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Longer employment suggests stability</a:t>
              </a:r>
              <a:endParaRPr dirty="0"/>
            </a:p>
          </p:txBody>
        </p:sp>
      </p:grpSp>
      <p:grpSp>
        <p:nvGrpSpPr>
          <p:cNvPr id="153" name="Google Shape;153;p6"/>
          <p:cNvGrpSpPr/>
          <p:nvPr/>
        </p:nvGrpSpPr>
        <p:grpSpPr>
          <a:xfrm>
            <a:off x="14103701" y="6048375"/>
            <a:ext cx="3025073" cy="1851025"/>
            <a:chOff x="0" y="38100"/>
            <a:chExt cx="4033431" cy="2468033"/>
          </a:xfrm>
        </p:grpSpPr>
        <p:sp>
          <p:nvSpPr>
            <p:cNvPr id="154" name="Google Shape;154;p6"/>
            <p:cNvSpPr txBox="1"/>
            <p:nvPr/>
          </p:nvSpPr>
          <p:spPr>
            <a:xfrm>
              <a:off x="0" y="38100"/>
              <a:ext cx="4033431" cy="118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i="0" u="none" strike="noStrike" cap="none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Age</a:t>
              </a:r>
              <a:endParaRPr/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0" y="1327150"/>
              <a:ext cx="4033431" cy="11789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 dirty="0">
                  <a:solidFill>
                    <a:srgbClr val="D1E8EA"/>
                  </a:solidFill>
                  <a:latin typeface="Arial"/>
                  <a:ea typeface="Arial"/>
                  <a:cs typeface="Arial"/>
                  <a:sym typeface="Arial"/>
                </a:rPr>
                <a:t>Age influences financial responsibility</a:t>
              </a:r>
              <a:endParaRPr dirty="0"/>
            </a:p>
          </p:txBody>
        </p:sp>
      </p:grpSp>
      <p:sp>
        <p:nvSpPr>
          <p:cNvPr id="156" name="Google Shape;156;p6"/>
          <p:cNvSpPr/>
          <p:nvPr/>
        </p:nvSpPr>
        <p:spPr>
          <a:xfrm>
            <a:off x="172010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6"/>
          <p:cNvSpPr/>
          <p:nvPr/>
        </p:nvSpPr>
        <p:spPr>
          <a:xfrm>
            <a:off x="603493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8" name="Google Shape;158;p6"/>
          <p:cNvSpPr/>
          <p:nvPr/>
        </p:nvSpPr>
        <p:spPr>
          <a:xfrm>
            <a:off x="10349759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9" name="Google Shape;159;p6"/>
          <p:cNvSpPr/>
          <p:nvPr/>
        </p:nvSpPr>
        <p:spPr>
          <a:xfrm>
            <a:off x="14664584" y="4740706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809EE0DC-3E76-7C85-CCA3-81A2F3424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960" y="3931804"/>
            <a:ext cx="2918077" cy="1868347"/>
          </a:xfrm>
          <a:prstGeom prst="rect">
            <a:avLst/>
          </a:prstGeom>
        </p:spPr>
      </p:pic>
      <p:pic>
        <p:nvPicPr>
          <p:cNvPr id="5" name="Picture 4" descr="A graph showing different colored lines&#10;&#10;AI-generated content may be incorrect.">
            <a:extLst>
              <a:ext uri="{FF2B5EF4-FFF2-40B4-BE49-F238E27FC236}">
                <a16:creationId xmlns:a16="http://schemas.microsoft.com/office/drawing/2014/main" id="{A74289F8-9E28-94E4-4A4B-F2617A82A0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1004" y="4023360"/>
            <a:ext cx="3208952" cy="1769404"/>
          </a:xfrm>
          <a:prstGeom prst="rect">
            <a:avLst/>
          </a:prstGeom>
        </p:spPr>
      </p:pic>
      <p:pic>
        <p:nvPicPr>
          <p:cNvPr id="7" name="Picture 6" descr="A person standing on an arrow with a flag&#10;&#10;AI-generated content may be incorrect.">
            <a:extLst>
              <a:ext uri="{FF2B5EF4-FFF2-40B4-BE49-F238E27FC236}">
                <a16:creationId xmlns:a16="http://schemas.microsoft.com/office/drawing/2014/main" id="{C2E9E845-0F1F-3C92-E8A7-0C0BE8B7BE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3315" y="3931805"/>
            <a:ext cx="3031650" cy="1918467"/>
          </a:xfrm>
          <a:prstGeom prst="rect">
            <a:avLst/>
          </a:prstGeom>
        </p:spPr>
      </p:pic>
      <p:pic>
        <p:nvPicPr>
          <p:cNvPr id="9" name="Picture 8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C904267B-40CB-CAF2-D902-9618489408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40524" y="3931805"/>
            <a:ext cx="3551425" cy="18418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9cd81bcaf_0_51"/>
          <p:cNvSpPr txBox="1"/>
          <p:nvPr/>
        </p:nvSpPr>
        <p:spPr>
          <a:xfrm>
            <a:off x="1669300" y="1034950"/>
            <a:ext cx="14986500" cy="10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800" b="1">
                <a:solidFill>
                  <a:srgbClr val="ECF3FB"/>
                </a:solidFill>
              </a:rPr>
              <a:t>Meet Jane - Sample Applicant</a:t>
            </a:r>
            <a:endParaRPr sz="200"/>
          </a:p>
        </p:txBody>
      </p:sp>
      <p:sp>
        <p:nvSpPr>
          <p:cNvPr id="165" name="Google Shape;165;g3a9cd81bcaf_0_51"/>
          <p:cNvSpPr txBox="1"/>
          <p:nvPr/>
        </p:nvSpPr>
        <p:spPr>
          <a:xfrm>
            <a:off x="1322575" y="3127900"/>
            <a:ext cx="33699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ECF3FB"/>
                </a:solidFill>
              </a:rPr>
              <a:t>Meet Jane</a:t>
            </a:r>
            <a:endParaRPr sz="3600"/>
          </a:p>
        </p:txBody>
      </p:sp>
      <p:pic>
        <p:nvPicPr>
          <p:cNvPr id="166" name="Google Shape;166;g3a9cd81bcaf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850" y="4378725"/>
            <a:ext cx="3749350" cy="484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a9cd81bcaf_0_51"/>
          <p:cNvSpPr txBox="1"/>
          <p:nvPr/>
        </p:nvSpPr>
        <p:spPr>
          <a:xfrm>
            <a:off x="5574600" y="5029013"/>
            <a:ext cx="5421600" cy="3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“Jane is a 35-year-old retail manager applying for a $50,000 loan. She has steady income, a strong payment history, and no delinquencies”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a9cd81bcaf_0_51"/>
          <p:cNvSpPr txBox="1"/>
          <p:nvPr/>
        </p:nvSpPr>
        <p:spPr>
          <a:xfrm>
            <a:off x="12101325" y="4422050"/>
            <a:ext cx="5716200" cy="4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Risk Score: 0.12 → APPROVE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Why the model approves her: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Stable employment (8+ years)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Low debt-to-income ratio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 previous late payments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Char char="-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Sufficient savings &amp; verified income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860D28B-9138-AA63-04B1-AC29CF06A36E}"/>
              </a:ext>
            </a:extLst>
          </p:cNvPr>
          <p:cNvSpPr/>
          <p:nvPr/>
        </p:nvSpPr>
        <p:spPr>
          <a:xfrm>
            <a:off x="196386" y="2078183"/>
            <a:ext cx="8814610" cy="706481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3" name="Google Shape;173;g399c633123f_0_37"/>
          <p:cNvGrpSpPr/>
          <p:nvPr/>
        </p:nvGrpSpPr>
        <p:grpSpPr>
          <a:xfrm>
            <a:off x="422300" y="640100"/>
            <a:ext cx="16065750" cy="8253517"/>
            <a:chOff x="-325933" y="-35533"/>
            <a:chExt cx="21421000" cy="11004689"/>
          </a:xfrm>
        </p:grpSpPr>
        <p:sp>
          <p:nvSpPr>
            <p:cNvPr id="174" name="Google Shape;174;g399c633123f_0_37"/>
            <p:cNvSpPr txBox="1"/>
            <p:nvPr/>
          </p:nvSpPr>
          <p:spPr>
            <a:xfrm>
              <a:off x="-325933" y="2671500"/>
              <a:ext cx="11044901" cy="82976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914400" lvl="1" indent="-3810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Char char="•"/>
              </a:pPr>
              <a:r>
                <a:rPr lang="en-US" sz="2400" b="1" dirty="0">
                  <a:solidFill>
                    <a:schemeClr val="tx1"/>
                  </a:solidFill>
                </a:rPr>
                <a:t>Converted days → years</a:t>
              </a:r>
              <a:br>
                <a:rPr lang="en-US" sz="2400" b="1" dirty="0">
                  <a:solidFill>
                    <a:schemeClr val="tx1"/>
                  </a:solidFill>
                </a:rPr>
              </a:br>
              <a:r>
                <a:rPr lang="en-US" sz="2400" i="1" dirty="0">
                  <a:solidFill>
                    <a:schemeClr val="tx1"/>
                  </a:solidFill>
                </a:rPr>
                <a:t>Makes age/employment intuitive and more predictive.</a:t>
              </a:r>
              <a:endParaRPr sz="2400" i="1" dirty="0">
                <a:solidFill>
                  <a:schemeClr val="tx1"/>
                </a:solidFill>
              </a:endParaRPr>
            </a:p>
            <a:p>
              <a:pPr marL="914400" lvl="1" indent="-3810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Char char="•"/>
              </a:pPr>
              <a:r>
                <a:rPr lang="en-US" sz="2400" b="1" dirty="0">
                  <a:solidFill>
                    <a:schemeClr val="tx1"/>
                  </a:solidFill>
                </a:rPr>
                <a:t>Created financial ratios</a:t>
              </a:r>
              <a:br>
                <a:rPr lang="en-US" sz="2400" b="1" dirty="0">
                  <a:solidFill>
                    <a:schemeClr val="tx1"/>
                  </a:solidFill>
                </a:rPr>
              </a:br>
              <a:r>
                <a:rPr lang="en-US" sz="2400" i="1" dirty="0">
                  <a:solidFill>
                    <a:schemeClr val="tx1"/>
                  </a:solidFill>
                </a:rPr>
                <a:t>Improves ability to detect repayment capacity.</a:t>
              </a:r>
              <a:endParaRPr sz="2400" i="1" dirty="0">
                <a:solidFill>
                  <a:schemeClr val="tx1"/>
                </a:solidFill>
              </a:endParaRPr>
            </a:p>
            <a:p>
              <a:pPr marL="914400" lvl="1" indent="-3810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Char char="•"/>
              </a:pPr>
              <a:r>
                <a:rPr lang="en-US" sz="2400" b="1" dirty="0">
                  <a:solidFill>
                    <a:schemeClr val="tx1"/>
                  </a:solidFill>
                </a:rPr>
                <a:t>Aggregated bureau history</a:t>
              </a:r>
              <a:br>
                <a:rPr lang="en-US" sz="2400" b="1" dirty="0">
                  <a:solidFill>
                    <a:schemeClr val="tx1"/>
                  </a:solidFill>
                </a:rPr>
              </a:br>
              <a:r>
                <a:rPr lang="en-US" sz="2400" i="1" dirty="0">
                  <a:solidFill>
                    <a:schemeClr val="tx1"/>
                  </a:solidFill>
                </a:rPr>
                <a:t>Captures long-term credit behavior instead of one-off signals.</a:t>
              </a:r>
              <a:endParaRPr sz="2400" i="1" dirty="0">
                <a:solidFill>
                  <a:schemeClr val="tx1"/>
                </a:solidFill>
              </a:endParaRPr>
            </a:p>
            <a:p>
              <a:pPr marL="914400" lvl="1" indent="-3810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400"/>
                <a:buChar char="•"/>
              </a:pPr>
              <a:r>
                <a:rPr lang="en-US" sz="2400" b="1" dirty="0">
                  <a:solidFill>
                    <a:schemeClr val="tx1"/>
                  </a:solidFill>
                </a:rPr>
                <a:t>Applied class weighting (11× defaults)</a:t>
              </a:r>
              <a:br>
                <a:rPr lang="en-US" sz="2400" b="1" dirty="0">
                  <a:solidFill>
                    <a:schemeClr val="tx1"/>
                  </a:solidFill>
                </a:rPr>
              </a:br>
              <a:r>
                <a:rPr lang="en-US" sz="2400" i="1" dirty="0">
                  <a:solidFill>
                    <a:schemeClr val="tx1"/>
                  </a:solidFill>
                </a:rPr>
                <a:t>Prevents the model from ignoring the minority class (defaulters).</a:t>
              </a:r>
              <a:endParaRPr sz="2400" i="1" dirty="0">
                <a:solidFill>
                  <a:schemeClr val="tx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endParaRPr sz="2400" i="1" dirty="0">
                <a:solidFill>
                  <a:schemeClr val="tx1"/>
                </a:solidFill>
              </a:endParaRPr>
            </a:p>
            <a:p>
              <a:pPr marL="0" lvl="0" indent="0" algn="l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r>
                <a:rPr lang="en-US" sz="2400" b="1" dirty="0">
                  <a:solidFill>
                    <a:schemeClr val="tx1"/>
                  </a:solidFill>
                </a:rPr>
                <a:t>Outcome: Improved model separation between good vs. bad borrowers (higher AUC / better lift)</a:t>
              </a:r>
              <a:endParaRPr sz="2400" b="1" dirty="0">
                <a:solidFill>
                  <a:schemeClr val="tx1"/>
                </a:solidFill>
              </a:endParaRPr>
            </a:p>
            <a:p>
              <a:pPr marL="0" marR="0" lvl="0" indent="0" algn="l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Tx/>
                <a:buNone/>
              </a:pPr>
              <a:endParaRPr sz="2400" dirty="0">
                <a:solidFill>
                  <a:schemeClr val="tx1"/>
                </a:solidFill>
              </a:endParaRPr>
            </a:p>
          </p:txBody>
        </p:sp>
        <p:sp>
          <p:nvSpPr>
            <p:cNvPr id="175" name="Google Shape;175;g399c633123f_0_37"/>
            <p:cNvSpPr txBox="1"/>
            <p:nvPr/>
          </p:nvSpPr>
          <p:spPr>
            <a:xfrm>
              <a:off x="503667" y="-35533"/>
              <a:ext cx="205914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0" b="1">
                  <a:solidFill>
                    <a:srgbClr val="ECF3FB"/>
                  </a:solidFill>
                </a:rPr>
                <a:t>Data Prep - Feature Engineering</a:t>
              </a:r>
              <a:endParaRPr sz="7000"/>
            </a:p>
          </p:txBody>
        </p:sp>
      </p:grpSp>
      <p:pic>
        <p:nvPicPr>
          <p:cNvPr id="176" name="Google Shape;176;g399c633123f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82025" y="2899225"/>
            <a:ext cx="8137725" cy="57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3A4D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 txBox="1"/>
          <p:nvPr/>
        </p:nvSpPr>
        <p:spPr>
          <a:xfrm>
            <a:off x="666750" y="6838950"/>
            <a:ext cx="54483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D1E8EA"/>
                </a:solidFill>
                <a:latin typeface="Arial"/>
                <a:ea typeface="Arial"/>
                <a:cs typeface="Arial"/>
                <a:sym typeface="Arial"/>
              </a:rPr>
              <a:t>Four models were rigorously tested</a:t>
            </a:r>
            <a:endParaRPr/>
          </a:p>
        </p:txBody>
      </p:sp>
      <p:sp>
        <p:nvSpPr>
          <p:cNvPr id="182" name="Google Shape;182;p4"/>
          <p:cNvSpPr txBox="1"/>
          <p:nvPr/>
        </p:nvSpPr>
        <p:spPr>
          <a:xfrm>
            <a:off x="6419850" y="6838950"/>
            <a:ext cx="544830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D1E8EA"/>
                </a:solidFill>
                <a:latin typeface="Arial"/>
                <a:ea typeface="Arial"/>
                <a:cs typeface="Arial"/>
                <a:sym typeface="Arial"/>
              </a:rPr>
              <a:t>Employed 5-fold cross-validation technique</a:t>
            </a:r>
            <a:endParaRPr/>
          </a:p>
        </p:txBody>
      </p:sp>
      <p:sp>
        <p:nvSpPr>
          <p:cNvPr id="183" name="Google Shape;183;p4"/>
          <p:cNvSpPr txBox="1"/>
          <p:nvPr/>
        </p:nvSpPr>
        <p:spPr>
          <a:xfrm>
            <a:off x="12172950" y="6838950"/>
            <a:ext cx="5448300" cy="4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0" i="0" u="none" strike="noStrike" cap="none">
                <a:solidFill>
                  <a:srgbClr val="D1E8EA"/>
                </a:solidFill>
                <a:latin typeface="Arial"/>
                <a:ea typeface="Arial"/>
                <a:cs typeface="Arial"/>
                <a:sym typeface="Arial"/>
              </a:rPr>
              <a:t>AUC metric to evaluate performance</a:t>
            </a:r>
            <a:endParaRPr/>
          </a:p>
        </p:txBody>
      </p:sp>
      <p:sp>
        <p:nvSpPr>
          <p:cNvPr id="184" name="Google Shape;184;p4"/>
          <p:cNvSpPr txBox="1"/>
          <p:nvPr/>
        </p:nvSpPr>
        <p:spPr>
          <a:xfrm>
            <a:off x="2105025" y="1091400"/>
            <a:ext cx="14078100" cy="35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437" b="1" i="0" u="none" strike="noStrike" cap="none">
                <a:solidFill>
                  <a:srgbClr val="ECF3FB"/>
                </a:solidFill>
                <a:latin typeface="Arial"/>
                <a:ea typeface="Arial"/>
                <a:cs typeface="Arial"/>
                <a:sym typeface="Arial"/>
              </a:rPr>
              <a:t>Modeling Approach: Optimizing Predictive Accuracy</a:t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2439246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6" name="Google Shape;186;p4"/>
          <p:cNvSpPr/>
          <p:nvPr/>
        </p:nvSpPr>
        <p:spPr>
          <a:xfrm>
            <a:off x="8119800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7" name="Google Shape;187;p4"/>
          <p:cNvSpPr/>
          <p:nvPr/>
        </p:nvSpPr>
        <p:spPr>
          <a:xfrm>
            <a:off x="13859107" y="51435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8" name="Google Shape;188;p4"/>
          <p:cNvPicPr preferRelativeResize="0"/>
          <p:nvPr/>
        </p:nvPicPr>
        <p:blipFill rotWithShape="1">
          <a:blip r:embed="rId4">
            <a:alphaModFix/>
          </a:blip>
          <a:srcRect t="21887"/>
          <a:stretch/>
        </p:blipFill>
        <p:spPr>
          <a:xfrm>
            <a:off x="1877775" y="5143500"/>
            <a:ext cx="2857500" cy="124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8738" y="4937175"/>
            <a:ext cx="292417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82624" y="4775050"/>
            <a:ext cx="3259455" cy="17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3526940-E723-6641-768D-639E567BC778}"/>
              </a:ext>
            </a:extLst>
          </p:cNvPr>
          <p:cNvSpPr/>
          <p:nvPr/>
        </p:nvSpPr>
        <p:spPr>
          <a:xfrm>
            <a:off x="97373" y="1721911"/>
            <a:ext cx="7813965" cy="72089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5" name="Google Shape;195;p5"/>
          <p:cNvGrpSpPr/>
          <p:nvPr/>
        </p:nvGrpSpPr>
        <p:grpSpPr>
          <a:xfrm>
            <a:off x="295990" y="290025"/>
            <a:ext cx="16878093" cy="7875417"/>
            <a:chOff x="-481650" y="-502300"/>
            <a:chExt cx="20271552" cy="9036969"/>
          </a:xfrm>
        </p:grpSpPr>
        <p:sp>
          <p:nvSpPr>
            <p:cNvPr id="196" name="Google Shape;196;p5"/>
            <p:cNvSpPr txBox="1"/>
            <p:nvPr/>
          </p:nvSpPr>
          <p:spPr>
            <a:xfrm>
              <a:off x="-481650" y="1859741"/>
              <a:ext cx="9209228" cy="66749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495300" lvl="0" indent="-457200" algn="l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Tx/>
                <a:buSzPts val="3000"/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chemeClr val="tx1"/>
                  </a:solidFill>
                </a:rPr>
                <a:t>XGBoost delivered the strongest performance with an AUC of about 0.75.</a:t>
              </a:r>
              <a:endParaRPr sz="3000" b="1" dirty="0">
                <a:solidFill>
                  <a:schemeClr val="tx1"/>
                </a:solidFill>
              </a:endParaRPr>
            </a:p>
            <a:p>
              <a:pPr marL="495300" lvl="0" indent="-457200" algn="l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Tx/>
                <a:buSzPts val="3000"/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chemeClr val="tx1"/>
                  </a:solidFill>
                </a:rPr>
                <a:t>Logistic regression and Random Forest followed closely, showing solid and consistent results.</a:t>
              </a:r>
              <a:endParaRPr sz="3000" dirty="0">
                <a:solidFill>
                  <a:schemeClr val="tx1"/>
                </a:solidFill>
              </a:endParaRPr>
            </a:p>
            <a:p>
              <a:pPr marL="495300" lvl="0" indent="-457200" algn="l" rtl="0">
                <a:lnSpc>
                  <a:spcPct val="139991"/>
                </a:lnSpc>
                <a:spcBef>
                  <a:spcPts val="0"/>
                </a:spcBef>
                <a:spcAft>
                  <a:spcPts val="0"/>
                </a:spcAft>
                <a:buClrTx/>
                <a:buSzPts val="3000"/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chemeClr val="tx1"/>
                  </a:solidFill>
                </a:rPr>
                <a:t>The decision tree model trailed behind, which is expected for a single-tree approach on complex data.</a:t>
              </a:r>
              <a:endParaRPr sz="3000" b="1" dirty="0">
                <a:solidFill>
                  <a:schemeClr val="tx1"/>
                </a:solidFill>
              </a:endParaRPr>
            </a:p>
          </p:txBody>
        </p:sp>
        <p:sp>
          <p:nvSpPr>
            <p:cNvPr id="197" name="Google Shape;197;p5"/>
            <p:cNvSpPr txBox="1"/>
            <p:nvPr/>
          </p:nvSpPr>
          <p:spPr>
            <a:xfrm>
              <a:off x="479222" y="-502300"/>
              <a:ext cx="19310680" cy="1292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999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0" b="1" i="0" u="none" strike="noStrike" cap="none" dirty="0">
                  <a:solidFill>
                    <a:srgbClr val="ECF3FB"/>
                  </a:solidFill>
                  <a:latin typeface="Arial"/>
                  <a:ea typeface="Arial"/>
                  <a:cs typeface="Arial"/>
                  <a:sym typeface="Arial"/>
                </a:rPr>
                <a:t>Model Performance Comparison</a:t>
              </a:r>
              <a:endParaRPr sz="7000" dirty="0"/>
            </a:p>
          </p:txBody>
        </p:sp>
      </p:grpSp>
      <p:sp>
        <p:nvSpPr>
          <p:cNvPr id="198" name="Google Shape;198;p5"/>
          <p:cNvSpPr txBox="1"/>
          <p:nvPr/>
        </p:nvSpPr>
        <p:spPr>
          <a:xfrm>
            <a:off x="8503919" y="8467040"/>
            <a:ext cx="9392215" cy="46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3" dirty="0">
                <a:solidFill>
                  <a:srgbClr val="D1E8EA"/>
                </a:solidFill>
              </a:rPr>
              <a:t>AUC measures how well the model separates defaulters vs. non-defaulters</a:t>
            </a:r>
            <a:endParaRPr sz="1100" dirty="0"/>
          </a:p>
        </p:txBody>
      </p:sp>
      <p:pic>
        <p:nvPicPr>
          <p:cNvPr id="199" name="Google Shape;19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2210" y="2196478"/>
            <a:ext cx="9829800" cy="611505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783A9D-8BCE-97F2-71E5-E4697D3E42B7}"/>
              </a:ext>
            </a:extLst>
          </p:cNvPr>
          <p:cNvSpPr/>
          <p:nvPr/>
        </p:nvSpPr>
        <p:spPr>
          <a:xfrm>
            <a:off x="9509759" y="2956951"/>
            <a:ext cx="7824651" cy="92746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9CBFA8-5C24-B5A7-5E03-FA8E145CFF01}"/>
              </a:ext>
            </a:extLst>
          </p:cNvPr>
          <p:cNvSpPr/>
          <p:nvPr/>
        </p:nvSpPr>
        <p:spPr>
          <a:xfrm>
            <a:off x="9509759" y="4158734"/>
            <a:ext cx="7537269" cy="953588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9A1DFB-098E-2208-EAB2-33549C559F7F}"/>
              </a:ext>
            </a:extLst>
          </p:cNvPr>
          <p:cNvSpPr/>
          <p:nvPr/>
        </p:nvSpPr>
        <p:spPr>
          <a:xfrm>
            <a:off x="9493134" y="5352760"/>
            <a:ext cx="7698224" cy="914400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9CBF48-B7FD-702F-BCDF-90A110240FDB}"/>
              </a:ext>
            </a:extLst>
          </p:cNvPr>
          <p:cNvSpPr/>
          <p:nvPr/>
        </p:nvSpPr>
        <p:spPr>
          <a:xfrm>
            <a:off x="9509759" y="6549236"/>
            <a:ext cx="6113417" cy="9535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F6C3FBE-DB15-6FB8-FEC0-66B783FCBBED}"/>
              </a:ext>
            </a:extLst>
          </p:cNvPr>
          <p:cNvSpPr/>
          <p:nvPr/>
        </p:nvSpPr>
        <p:spPr>
          <a:xfrm>
            <a:off x="282317" y="3182027"/>
            <a:ext cx="8196349" cy="538008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Google Shape;204;g3a5add9cd1e_1_0"/>
          <p:cNvSpPr txBox="1"/>
          <p:nvPr/>
        </p:nvSpPr>
        <p:spPr>
          <a:xfrm>
            <a:off x="599625" y="777400"/>
            <a:ext cx="168831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400" b="1" dirty="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XGBoost</a:t>
            </a:r>
            <a:endParaRPr sz="8400" b="1" dirty="0"/>
          </a:p>
        </p:txBody>
      </p:sp>
      <p:graphicFrame>
        <p:nvGraphicFramePr>
          <p:cNvPr id="205" name="Google Shape;205;g3a5add9cd1e_1_0"/>
          <p:cNvGraphicFramePr/>
          <p:nvPr>
            <p:extLst>
              <p:ext uri="{D42A27DB-BD31-4B8C-83A1-F6EECF244321}">
                <p14:modId xmlns:p14="http://schemas.microsoft.com/office/powerpoint/2010/main" val="3148903275"/>
              </p:ext>
            </p:extLst>
          </p:nvPr>
        </p:nvGraphicFramePr>
        <p:xfrm>
          <a:off x="9450025" y="3616475"/>
          <a:ext cx="8032700" cy="4033250"/>
        </p:xfrm>
        <a:graphic>
          <a:graphicData uri="http://schemas.openxmlformats.org/drawingml/2006/table">
            <a:tbl>
              <a:tblPr>
                <a:noFill/>
                <a:tableStyleId>{F3F00DA4-FAFD-4F70-B3F1-8E9F5148B011}</a:tableStyleId>
              </a:tblPr>
              <a:tblGrid>
                <a:gridCol w="4016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6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7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 sz="3000" b="1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Values</a:t>
                      </a:r>
                      <a:endParaRPr sz="3000" b="1">
                        <a:solidFill>
                          <a:srgbClr val="FFFFFF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4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Cross-validated AUC</a:t>
                      </a:r>
                      <a:endParaRPr sz="3000" b="1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≈ 0.754</a:t>
                      </a:r>
                      <a:endParaRPr sz="3000" b="1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4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Validation AUC</a:t>
                      </a:r>
                      <a:endParaRPr sz="3000" b="1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≈ 0.753</a:t>
                      </a:r>
                      <a:endParaRPr sz="3000" b="1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0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Best Settings</a:t>
                      </a:r>
                      <a:endParaRPr sz="3000" b="1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 b="1" dirty="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Depth = 6, Rounds = 400, </a:t>
                      </a:r>
                      <a:r>
                        <a:rPr lang="en-US" sz="3000" b="1" dirty="0" err="1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η</a:t>
                      </a:r>
                      <a:r>
                        <a:rPr lang="en-US" sz="3000" b="1" dirty="0">
                          <a:solidFill>
                            <a:schemeClr val="lt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= 0.05</a:t>
                      </a:r>
                      <a:endParaRPr sz="3000" b="1" dirty="0">
                        <a:solidFill>
                          <a:schemeClr val="lt1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6" name="Google Shape;206;g3a5add9cd1e_1_0"/>
          <p:cNvSpPr txBox="1"/>
          <p:nvPr/>
        </p:nvSpPr>
        <p:spPr>
          <a:xfrm>
            <a:off x="599625" y="3616475"/>
            <a:ext cx="77763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4191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Best-performing model in our experiment</a:t>
            </a:r>
            <a:endParaRPr sz="3000" dirty="0">
              <a:solidFill>
                <a:schemeClr val="tx1"/>
              </a:solidFill>
            </a:endParaRPr>
          </a:p>
          <a:p>
            <a:pPr marL="457200" lvl="0" indent="-4191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Catches more true defaults while keeping errors balanced</a:t>
            </a:r>
            <a:endParaRPr sz="3000" dirty="0">
              <a:solidFill>
                <a:schemeClr val="tx1"/>
              </a:solidFill>
            </a:endParaRPr>
          </a:p>
          <a:p>
            <a:pPr marL="457200" lvl="0" indent="-4191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Consistent performance on both training and validation</a:t>
            </a:r>
            <a:endParaRPr sz="3000" dirty="0">
              <a:solidFill>
                <a:schemeClr val="tx1"/>
              </a:solidFill>
            </a:endParaRPr>
          </a:p>
          <a:p>
            <a:pPr marL="457200" lvl="0" indent="-419100" algn="l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Char char="●"/>
            </a:pPr>
            <a:r>
              <a:rPr lang="en-US" sz="3000" dirty="0">
                <a:solidFill>
                  <a:schemeClr val="tx1"/>
                </a:solidFill>
              </a:rPr>
              <a:t>Captures complex patterns the other models miss</a:t>
            </a:r>
            <a:endParaRPr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4C63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92B7991-2DA3-265A-68D4-8B5FDBD955F0}"/>
              </a:ext>
            </a:extLst>
          </p:cNvPr>
          <p:cNvSpPr/>
          <p:nvPr/>
        </p:nvSpPr>
        <p:spPr>
          <a:xfrm>
            <a:off x="282317" y="3182028"/>
            <a:ext cx="8196349" cy="30421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1" name="Google Shape;211;p9"/>
          <p:cNvSpPr txBox="1"/>
          <p:nvPr/>
        </p:nvSpPr>
        <p:spPr>
          <a:xfrm>
            <a:off x="0" y="560779"/>
            <a:ext cx="1800536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ECF3FB"/>
                </a:solidFill>
                <a:latin typeface="Arial"/>
                <a:ea typeface="Arial"/>
                <a:cs typeface="Arial"/>
                <a:sym typeface="Arial"/>
              </a:rPr>
              <a:t>Implementation and Integration of the Model</a:t>
            </a:r>
            <a:endParaRPr sz="1100" dirty="0"/>
          </a:p>
        </p:txBody>
      </p:sp>
      <p:sp>
        <p:nvSpPr>
          <p:cNvPr id="212" name="Google Shape;212;p9"/>
          <p:cNvSpPr txBox="1"/>
          <p:nvPr/>
        </p:nvSpPr>
        <p:spPr>
          <a:xfrm>
            <a:off x="639292" y="3395049"/>
            <a:ext cx="7839374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1"/>
                </a:solidFill>
              </a:rPr>
              <a:t>	   Real-time Deployment</a:t>
            </a:r>
            <a:endParaRPr sz="3000" b="1" dirty="0">
              <a:solidFill>
                <a:schemeClr val="tx1"/>
              </a:solidFill>
            </a:endParaRPr>
          </a:p>
          <a:p>
            <a:pPr marL="4953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Pts val="3000"/>
              <a:buFont typeface="Wingdings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</a:rPr>
              <a:t>API scoring integrated into loan application workflow.</a:t>
            </a:r>
            <a:endParaRPr sz="3000" dirty="0">
              <a:solidFill>
                <a:schemeClr val="tx1"/>
              </a:solidFill>
            </a:endParaRPr>
          </a:p>
          <a:p>
            <a:pPr marL="4953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Font typeface="Wingdings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</a:rPr>
              <a:t>Scores returned instantly for underwriting.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65736FD-02C6-DAE1-D245-B803AE56BD51}"/>
              </a:ext>
            </a:extLst>
          </p:cNvPr>
          <p:cNvSpPr/>
          <p:nvPr/>
        </p:nvSpPr>
        <p:spPr>
          <a:xfrm>
            <a:off x="9452359" y="3222365"/>
            <a:ext cx="8196349" cy="30421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Google Shape;212;p9">
            <a:extLst>
              <a:ext uri="{FF2B5EF4-FFF2-40B4-BE49-F238E27FC236}">
                <a16:creationId xmlns:a16="http://schemas.microsoft.com/office/drawing/2014/main" id="{3E1F6EBA-9AFC-9794-6FED-A91A24E163A6}"/>
              </a:ext>
            </a:extLst>
          </p:cNvPr>
          <p:cNvSpPr txBox="1"/>
          <p:nvPr/>
        </p:nvSpPr>
        <p:spPr>
          <a:xfrm>
            <a:off x="9543011" y="3395049"/>
            <a:ext cx="8462356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1"/>
                </a:solidFill>
              </a:rPr>
              <a:t>	     Decision Thresholds</a:t>
            </a:r>
            <a:endParaRPr sz="3000" b="1" dirty="0">
              <a:solidFill>
                <a:schemeClr val="tx1"/>
              </a:solidFill>
            </a:endParaRPr>
          </a:p>
          <a:p>
            <a:pPr marL="4953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Pts val="3000"/>
              <a:buFont typeface="Wingdings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</a:rPr>
              <a:t>Pre-defined cutoffs for </a:t>
            </a:r>
            <a:r>
              <a:rPr lang="en-US" sz="3000" b="1" dirty="0">
                <a:solidFill>
                  <a:schemeClr val="tx1"/>
                </a:solidFill>
              </a:rPr>
              <a:t>Approve / Review / Decline.</a:t>
            </a:r>
            <a:endParaRPr sz="3000" b="1" dirty="0">
              <a:solidFill>
                <a:schemeClr val="tx1"/>
              </a:solidFill>
            </a:endParaRPr>
          </a:p>
          <a:p>
            <a:pPr marL="4953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Font typeface="Wingdings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</a:rPr>
              <a:t>Aligned with business risk appetite.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2FBD777-F9B3-CCB7-D943-56177D18D554}"/>
              </a:ext>
            </a:extLst>
          </p:cNvPr>
          <p:cNvSpPr/>
          <p:nvPr/>
        </p:nvSpPr>
        <p:spPr>
          <a:xfrm>
            <a:off x="4197932" y="6915825"/>
            <a:ext cx="9817331" cy="30421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Google Shape;212;p9">
            <a:extLst>
              <a:ext uri="{FF2B5EF4-FFF2-40B4-BE49-F238E27FC236}">
                <a16:creationId xmlns:a16="http://schemas.microsoft.com/office/drawing/2014/main" id="{C3ECEB74-CC8D-0086-F3D4-90BDA5F4AF58}"/>
              </a:ext>
            </a:extLst>
          </p:cNvPr>
          <p:cNvSpPr txBox="1"/>
          <p:nvPr/>
        </p:nvSpPr>
        <p:spPr>
          <a:xfrm>
            <a:off x="4401435" y="7128846"/>
            <a:ext cx="9410323" cy="2616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1" dirty="0">
                <a:solidFill>
                  <a:schemeClr val="tx1"/>
                </a:solidFill>
              </a:rPr>
              <a:t>			Human Oversight</a:t>
            </a:r>
            <a:endParaRPr sz="3000" b="1" dirty="0">
              <a:solidFill>
                <a:schemeClr val="tx1"/>
              </a:solidFill>
            </a:endParaRPr>
          </a:p>
          <a:p>
            <a:pPr marL="495300" lvl="0" indent="-457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Tx/>
              <a:buSzPts val="3000"/>
              <a:buFont typeface="Wingdings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</a:rPr>
              <a:t>Manual review for borderline or high-risk applicants.</a:t>
            </a:r>
            <a:endParaRPr sz="3000" dirty="0">
              <a:solidFill>
                <a:schemeClr val="tx1"/>
              </a:solidFill>
            </a:endParaRPr>
          </a:p>
          <a:p>
            <a:pPr marL="4953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Font typeface="Wingdings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</a:rPr>
              <a:t>Ensures compliance and ethical standards.</a:t>
            </a:r>
            <a:endParaRPr sz="3000" dirty="0">
              <a:solidFill>
                <a:schemeClr val="tx1"/>
              </a:solidFill>
            </a:endParaRPr>
          </a:p>
          <a:p>
            <a:pPr marL="4953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Pts val="3000"/>
              <a:buFont typeface="Wingdings" pitchFamily="2" charset="2"/>
              <a:buChar char="ü"/>
            </a:pPr>
            <a:r>
              <a:rPr lang="en-US" sz="3000" dirty="0">
                <a:solidFill>
                  <a:schemeClr val="tx1"/>
                </a:solidFill>
              </a:rPr>
              <a:t>Annual model retraining or earlier if drift detected.</a:t>
            </a:r>
            <a:endParaRPr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72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/>
        </p:nvSpPr>
        <p:spPr>
          <a:xfrm>
            <a:off x="666750" y="7165523"/>
            <a:ext cx="544830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D1E8EA"/>
                </a:solidFill>
                <a:latin typeface="Arial"/>
                <a:ea typeface="Arial"/>
                <a:cs typeface="Arial"/>
                <a:sym typeface="Arial"/>
              </a:rPr>
              <a:t>Missing data can skew results</a:t>
            </a:r>
            <a:endParaRPr b="1" dirty="0"/>
          </a:p>
        </p:txBody>
      </p:sp>
      <p:sp>
        <p:nvSpPr>
          <p:cNvPr id="218" name="Google Shape;218;p11"/>
          <p:cNvSpPr txBox="1"/>
          <p:nvPr/>
        </p:nvSpPr>
        <p:spPr>
          <a:xfrm>
            <a:off x="6303475" y="7165523"/>
            <a:ext cx="5448300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D1E8EA"/>
                </a:solidFill>
                <a:latin typeface="Arial"/>
                <a:ea typeface="Arial"/>
                <a:cs typeface="Arial"/>
                <a:sym typeface="Arial"/>
              </a:rPr>
              <a:t>Potential biases affect fairness</a:t>
            </a:r>
            <a:endParaRPr b="1" dirty="0"/>
          </a:p>
        </p:txBody>
      </p:sp>
      <p:sp>
        <p:nvSpPr>
          <p:cNvPr id="219" name="Google Shape;219;p11"/>
          <p:cNvSpPr txBox="1"/>
          <p:nvPr/>
        </p:nvSpPr>
        <p:spPr>
          <a:xfrm>
            <a:off x="11868150" y="7165523"/>
            <a:ext cx="6004214" cy="538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99" b="1" i="0" u="none" strike="noStrike" cap="none" dirty="0">
                <a:solidFill>
                  <a:srgbClr val="D1E8EA"/>
                </a:solidFill>
                <a:latin typeface="Arial"/>
                <a:ea typeface="Arial"/>
                <a:cs typeface="Arial"/>
                <a:sym typeface="Arial"/>
              </a:rPr>
              <a:t>Additional features enhance accuracy</a:t>
            </a:r>
            <a:endParaRPr b="1" dirty="0"/>
          </a:p>
        </p:txBody>
      </p:sp>
      <p:sp>
        <p:nvSpPr>
          <p:cNvPr id="220" name="Google Shape;220;p11"/>
          <p:cNvSpPr txBox="1"/>
          <p:nvPr/>
        </p:nvSpPr>
        <p:spPr>
          <a:xfrm>
            <a:off x="2105025" y="888614"/>
            <a:ext cx="14078100" cy="3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ECF3FB"/>
                </a:solidFill>
                <a:latin typeface="Arial"/>
                <a:ea typeface="Arial"/>
                <a:cs typeface="Arial"/>
                <a:sym typeface="Arial"/>
              </a:rPr>
              <a:t>Addressing Model Limitations and Future Considerations</a:t>
            </a:r>
            <a:endParaRPr dirty="0"/>
          </a:p>
        </p:txBody>
      </p:sp>
      <p:sp>
        <p:nvSpPr>
          <p:cNvPr id="221" name="Google Shape;221;p11"/>
          <p:cNvSpPr/>
          <p:nvPr/>
        </p:nvSpPr>
        <p:spPr>
          <a:xfrm>
            <a:off x="2439246" y="5470073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8" y="0"/>
                </a:lnTo>
                <a:lnTo>
                  <a:pt x="1903308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Google Shape;222;p11"/>
          <p:cNvSpPr/>
          <p:nvPr/>
        </p:nvSpPr>
        <p:spPr>
          <a:xfrm>
            <a:off x="8119800" y="5470073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3" name="Google Shape;223;p11"/>
          <p:cNvSpPr/>
          <p:nvPr/>
        </p:nvSpPr>
        <p:spPr>
          <a:xfrm>
            <a:off x="13859107" y="5470073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 extrusionOk="0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" name="Picture 2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ECF75592-6771-EF6A-D504-BF83F7283A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236" y="5149921"/>
            <a:ext cx="4129325" cy="1617750"/>
          </a:xfrm>
          <a:prstGeom prst="rect">
            <a:avLst/>
          </a:prstGeom>
        </p:spPr>
      </p:pic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34C77F29-DCC9-3689-B387-63835895F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04" y="5149921"/>
            <a:ext cx="3731056" cy="1734045"/>
          </a:xfrm>
          <a:prstGeom prst="rect">
            <a:avLst/>
          </a:prstGeom>
        </p:spPr>
      </p:pic>
      <p:pic>
        <p:nvPicPr>
          <p:cNvPr id="7" name="Picture 6" descr="A blue line graph with white text&#10;&#10;AI-generated content may be incorrect.">
            <a:extLst>
              <a:ext uri="{FF2B5EF4-FFF2-40B4-BE49-F238E27FC236}">
                <a16:creationId xmlns:a16="http://schemas.microsoft.com/office/drawing/2014/main" id="{05970853-AAD0-D1B5-5300-98C2EF3638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6726" y="5143500"/>
            <a:ext cx="3621663" cy="18212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7">
          <a:extLst>
            <a:ext uri="{FF2B5EF4-FFF2-40B4-BE49-F238E27FC236}">
              <a16:creationId xmlns:a16="http://schemas.microsoft.com/office/drawing/2014/main" id="{7E7CB0BC-4524-3003-333E-E722BBBAD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0" name="Rectangle 249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3428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Google Shape;228;g3ae02aae0e2_0_3">
            <a:extLst>
              <a:ext uri="{FF2B5EF4-FFF2-40B4-BE49-F238E27FC236}">
                <a16:creationId xmlns:a16="http://schemas.microsoft.com/office/drawing/2014/main" id="{93241D34-629B-12FF-2050-B0C780E14217}"/>
              </a:ext>
            </a:extLst>
          </p:cNvPr>
          <p:cNvSpPr txBox="1"/>
          <p:nvPr/>
        </p:nvSpPr>
        <p:spPr>
          <a:xfrm>
            <a:off x="3196036" y="6925328"/>
            <a:ext cx="11891356" cy="1734897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8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Kaggle Score</a:t>
            </a:r>
            <a:endParaRPr lang="en-US" sz="8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" name="Picture 9" descr="A credit score gauge with a needle and text&#10;&#10;AI-generated content may be incorrect.">
            <a:extLst>
              <a:ext uri="{FF2B5EF4-FFF2-40B4-BE49-F238E27FC236}">
                <a16:creationId xmlns:a16="http://schemas.microsoft.com/office/drawing/2014/main" id="{454E7E59-9130-BE4C-9F26-CE9553CCB0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" t="10982" r="1"/>
          <a:stretch>
            <a:fillRect/>
          </a:stretch>
        </p:blipFill>
        <p:spPr>
          <a:xfrm>
            <a:off x="6616932" y="804708"/>
            <a:ext cx="4995948" cy="3060310"/>
          </a:xfrm>
          <a:custGeom>
            <a:avLst/>
            <a:gdLst/>
            <a:ahLst/>
            <a:cxnLst/>
            <a:rect l="l" t="t" r="r" b="b"/>
            <a:pathLst>
              <a:path w="6002835" h="4194796">
                <a:moveTo>
                  <a:pt x="0" y="0"/>
                </a:moveTo>
                <a:lnTo>
                  <a:pt x="5999418" y="0"/>
                </a:lnTo>
                <a:lnTo>
                  <a:pt x="5996190" y="32760"/>
                </a:lnTo>
                <a:cubicBezTo>
                  <a:pt x="5998706" y="293110"/>
                  <a:pt x="5983874" y="553460"/>
                  <a:pt x="5997116" y="813682"/>
                </a:cubicBezTo>
                <a:cubicBezTo>
                  <a:pt x="6007314" y="1015047"/>
                  <a:pt x="6000824" y="1216284"/>
                  <a:pt x="5997116" y="1417522"/>
                </a:cubicBezTo>
                <a:cubicBezTo>
                  <a:pt x="5989967" y="1803471"/>
                  <a:pt x="6000824" y="2188911"/>
                  <a:pt x="5996190" y="2574351"/>
                </a:cubicBezTo>
                <a:cubicBezTo>
                  <a:pt x="5994204" y="2745205"/>
                  <a:pt x="5996454" y="2915805"/>
                  <a:pt x="6000824" y="3086660"/>
                </a:cubicBezTo>
                <a:cubicBezTo>
                  <a:pt x="6007180" y="3330611"/>
                  <a:pt x="5997382" y="3574689"/>
                  <a:pt x="5986656" y="3818514"/>
                </a:cubicBezTo>
                <a:cubicBezTo>
                  <a:pt x="5983054" y="3885559"/>
                  <a:pt x="5982107" y="3952684"/>
                  <a:pt x="5983808" y="4019746"/>
                </a:cubicBezTo>
                <a:lnTo>
                  <a:pt x="5993788" y="4173418"/>
                </a:lnTo>
                <a:lnTo>
                  <a:pt x="5955106" y="4175101"/>
                </a:lnTo>
                <a:cubicBezTo>
                  <a:pt x="5890100" y="4175133"/>
                  <a:pt x="5825078" y="4173227"/>
                  <a:pt x="5760087" y="4171956"/>
                </a:cubicBezTo>
                <a:cubicBezTo>
                  <a:pt x="5521345" y="4167509"/>
                  <a:pt x="5282477" y="4171956"/>
                  <a:pt x="5044242" y="4149213"/>
                </a:cubicBezTo>
                <a:cubicBezTo>
                  <a:pt x="4979506" y="4143051"/>
                  <a:pt x="4914326" y="4139111"/>
                  <a:pt x="4849272" y="4139890"/>
                </a:cubicBezTo>
                <a:cubicBezTo>
                  <a:pt x="4784218" y="4140668"/>
                  <a:pt x="4719291" y="4146163"/>
                  <a:pt x="4655063" y="4158869"/>
                </a:cubicBezTo>
                <a:cubicBezTo>
                  <a:pt x="4447578" y="4199146"/>
                  <a:pt x="4239457" y="4201688"/>
                  <a:pt x="4029811" y="4185424"/>
                </a:cubicBezTo>
                <a:cubicBezTo>
                  <a:pt x="3943792" y="4178690"/>
                  <a:pt x="3857774" y="4167509"/>
                  <a:pt x="3771375" y="4169669"/>
                </a:cubicBezTo>
                <a:cubicBezTo>
                  <a:pt x="3623225" y="4173608"/>
                  <a:pt x="3474948" y="4165603"/>
                  <a:pt x="3326672" y="4167636"/>
                </a:cubicBezTo>
                <a:cubicBezTo>
                  <a:pt x="3322669" y="4168208"/>
                  <a:pt x="3318578" y="4167674"/>
                  <a:pt x="3314855" y="4166111"/>
                </a:cubicBezTo>
                <a:cubicBezTo>
                  <a:pt x="3278008" y="4140827"/>
                  <a:pt x="3237604" y="4150610"/>
                  <a:pt x="3199487" y="4157217"/>
                </a:cubicBezTo>
                <a:cubicBezTo>
                  <a:pt x="3072810" y="4179198"/>
                  <a:pt x="2946260" y="4189998"/>
                  <a:pt x="2817550" y="4172972"/>
                </a:cubicBezTo>
                <a:cubicBezTo>
                  <a:pt x="2694647" y="4155146"/>
                  <a:pt x="2569990" y="4152923"/>
                  <a:pt x="2446541" y="4166365"/>
                </a:cubicBezTo>
                <a:cubicBezTo>
                  <a:pt x="2276791" y="4186186"/>
                  <a:pt x="2107677" y="4181993"/>
                  <a:pt x="1938308" y="4166365"/>
                </a:cubicBezTo>
                <a:cubicBezTo>
                  <a:pt x="1869570" y="4160013"/>
                  <a:pt x="1799815" y="4149213"/>
                  <a:pt x="1731712" y="4165095"/>
                </a:cubicBezTo>
                <a:cubicBezTo>
                  <a:pt x="1647854" y="4184535"/>
                  <a:pt x="1564250" y="4178182"/>
                  <a:pt x="1480137" y="4173862"/>
                </a:cubicBezTo>
                <a:cubicBezTo>
                  <a:pt x="1373663" y="4168271"/>
                  <a:pt x="1267442" y="4152135"/>
                  <a:pt x="1160586" y="4164841"/>
                </a:cubicBezTo>
                <a:cubicBezTo>
                  <a:pt x="1111161" y="4170685"/>
                  <a:pt x="1062116" y="4179961"/>
                  <a:pt x="1012055" y="4177547"/>
                </a:cubicBezTo>
                <a:cubicBezTo>
                  <a:pt x="873562" y="4171194"/>
                  <a:pt x="735196" y="4163697"/>
                  <a:pt x="596449" y="4164841"/>
                </a:cubicBezTo>
                <a:cubicBezTo>
                  <a:pt x="538383" y="4165222"/>
                  <a:pt x="480699" y="4167128"/>
                  <a:pt x="422887" y="4171321"/>
                </a:cubicBezTo>
                <a:cubicBezTo>
                  <a:pt x="315015" y="4179198"/>
                  <a:pt x="207524" y="4168525"/>
                  <a:pt x="100033" y="4164714"/>
                </a:cubicBezTo>
                <a:lnTo>
                  <a:pt x="0" y="4169195"/>
                </a:lnTo>
                <a:close/>
              </a:path>
            </a:pathLst>
          </a:custGeom>
        </p:spPr>
      </p:pic>
      <p:sp>
        <p:nvSpPr>
          <p:cNvPr id="252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75120" y="8397658"/>
            <a:ext cx="4937760" cy="27432"/>
          </a:xfrm>
          <a:custGeom>
            <a:avLst/>
            <a:gdLst>
              <a:gd name="csX0" fmla="*/ 0 w 4937760"/>
              <a:gd name="csY0" fmla="*/ 0 h 27432"/>
              <a:gd name="csX1" fmla="*/ 567842 w 4937760"/>
              <a:gd name="csY1" fmla="*/ 0 h 27432"/>
              <a:gd name="csX2" fmla="*/ 1135685 w 4937760"/>
              <a:gd name="csY2" fmla="*/ 0 h 27432"/>
              <a:gd name="csX3" fmla="*/ 1851660 w 4937760"/>
              <a:gd name="csY3" fmla="*/ 0 h 27432"/>
              <a:gd name="csX4" fmla="*/ 2370125 w 4937760"/>
              <a:gd name="csY4" fmla="*/ 0 h 27432"/>
              <a:gd name="csX5" fmla="*/ 2888590 w 4937760"/>
              <a:gd name="csY5" fmla="*/ 0 h 27432"/>
              <a:gd name="csX6" fmla="*/ 3505810 w 4937760"/>
              <a:gd name="csY6" fmla="*/ 0 h 27432"/>
              <a:gd name="csX7" fmla="*/ 4024274 w 4937760"/>
              <a:gd name="csY7" fmla="*/ 0 h 27432"/>
              <a:gd name="csX8" fmla="*/ 4937760 w 4937760"/>
              <a:gd name="csY8" fmla="*/ 0 h 27432"/>
              <a:gd name="csX9" fmla="*/ 4937760 w 4937760"/>
              <a:gd name="csY9" fmla="*/ 27432 h 27432"/>
              <a:gd name="csX10" fmla="*/ 4419295 w 4937760"/>
              <a:gd name="csY10" fmla="*/ 27432 h 27432"/>
              <a:gd name="csX11" fmla="*/ 3900830 w 4937760"/>
              <a:gd name="csY11" fmla="*/ 27432 h 27432"/>
              <a:gd name="csX12" fmla="*/ 3283610 w 4937760"/>
              <a:gd name="csY12" fmla="*/ 27432 h 27432"/>
              <a:gd name="csX13" fmla="*/ 2765146 w 4937760"/>
              <a:gd name="csY13" fmla="*/ 27432 h 27432"/>
              <a:gd name="csX14" fmla="*/ 2296058 w 4937760"/>
              <a:gd name="csY14" fmla="*/ 27432 h 27432"/>
              <a:gd name="csX15" fmla="*/ 1678838 w 4937760"/>
              <a:gd name="csY15" fmla="*/ 27432 h 27432"/>
              <a:gd name="csX16" fmla="*/ 1061618 w 4937760"/>
              <a:gd name="csY16" fmla="*/ 27432 h 27432"/>
              <a:gd name="csX17" fmla="*/ 0 w 4937760"/>
              <a:gd name="csY17" fmla="*/ 27432 h 27432"/>
              <a:gd name="csX18" fmla="*/ 0 w 4937760"/>
              <a:gd name="csY18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937760" h="27432" fill="none" extrusionOk="0">
                <a:moveTo>
                  <a:pt x="0" y="0"/>
                </a:moveTo>
                <a:cubicBezTo>
                  <a:pt x="151071" y="898"/>
                  <a:pt x="414304" y="10355"/>
                  <a:pt x="567842" y="0"/>
                </a:cubicBezTo>
                <a:cubicBezTo>
                  <a:pt x="721380" y="-10355"/>
                  <a:pt x="913955" y="23592"/>
                  <a:pt x="1135685" y="0"/>
                </a:cubicBezTo>
                <a:cubicBezTo>
                  <a:pt x="1357415" y="-23592"/>
                  <a:pt x="1656179" y="-14359"/>
                  <a:pt x="1851660" y="0"/>
                </a:cubicBezTo>
                <a:cubicBezTo>
                  <a:pt x="2047142" y="14359"/>
                  <a:pt x="2259566" y="-14455"/>
                  <a:pt x="2370125" y="0"/>
                </a:cubicBezTo>
                <a:cubicBezTo>
                  <a:pt x="2480684" y="14455"/>
                  <a:pt x="2753992" y="22579"/>
                  <a:pt x="2888590" y="0"/>
                </a:cubicBezTo>
                <a:cubicBezTo>
                  <a:pt x="3023188" y="-22579"/>
                  <a:pt x="3354327" y="24296"/>
                  <a:pt x="3505810" y="0"/>
                </a:cubicBezTo>
                <a:cubicBezTo>
                  <a:pt x="3657293" y="-24296"/>
                  <a:pt x="3767649" y="3652"/>
                  <a:pt x="4024274" y="0"/>
                </a:cubicBezTo>
                <a:cubicBezTo>
                  <a:pt x="4280899" y="-3652"/>
                  <a:pt x="4541928" y="-14384"/>
                  <a:pt x="4937760" y="0"/>
                </a:cubicBezTo>
                <a:cubicBezTo>
                  <a:pt x="4938470" y="9050"/>
                  <a:pt x="4937122" y="21151"/>
                  <a:pt x="4937760" y="27432"/>
                </a:cubicBezTo>
                <a:cubicBezTo>
                  <a:pt x="4792365" y="10076"/>
                  <a:pt x="4528041" y="17663"/>
                  <a:pt x="4419295" y="27432"/>
                </a:cubicBezTo>
                <a:cubicBezTo>
                  <a:pt x="4310549" y="37201"/>
                  <a:pt x="4126500" y="10618"/>
                  <a:pt x="3900830" y="27432"/>
                </a:cubicBezTo>
                <a:cubicBezTo>
                  <a:pt x="3675160" y="44246"/>
                  <a:pt x="3409924" y="31425"/>
                  <a:pt x="3283610" y="27432"/>
                </a:cubicBezTo>
                <a:cubicBezTo>
                  <a:pt x="3157296" y="23439"/>
                  <a:pt x="3011610" y="15782"/>
                  <a:pt x="2765146" y="27432"/>
                </a:cubicBezTo>
                <a:cubicBezTo>
                  <a:pt x="2518682" y="39082"/>
                  <a:pt x="2505970" y="40710"/>
                  <a:pt x="2296058" y="27432"/>
                </a:cubicBezTo>
                <a:cubicBezTo>
                  <a:pt x="2086146" y="14154"/>
                  <a:pt x="1890404" y="35142"/>
                  <a:pt x="1678838" y="27432"/>
                </a:cubicBezTo>
                <a:cubicBezTo>
                  <a:pt x="1467272" y="19722"/>
                  <a:pt x="1210839" y="46081"/>
                  <a:pt x="1061618" y="27432"/>
                </a:cubicBezTo>
                <a:cubicBezTo>
                  <a:pt x="912397" y="8783"/>
                  <a:pt x="424920" y="11180"/>
                  <a:pt x="0" y="27432"/>
                </a:cubicBezTo>
                <a:cubicBezTo>
                  <a:pt x="-1228" y="21145"/>
                  <a:pt x="-815" y="8816"/>
                  <a:pt x="0" y="0"/>
                </a:cubicBezTo>
                <a:close/>
              </a:path>
              <a:path w="4937760" h="27432" stroke="0" extrusionOk="0">
                <a:moveTo>
                  <a:pt x="0" y="0"/>
                </a:moveTo>
                <a:cubicBezTo>
                  <a:pt x="158580" y="-21299"/>
                  <a:pt x="375366" y="-9205"/>
                  <a:pt x="518465" y="0"/>
                </a:cubicBezTo>
                <a:cubicBezTo>
                  <a:pt x="661564" y="9205"/>
                  <a:pt x="901414" y="-31895"/>
                  <a:pt x="1234440" y="0"/>
                </a:cubicBezTo>
                <a:cubicBezTo>
                  <a:pt x="1567467" y="31895"/>
                  <a:pt x="1525818" y="3722"/>
                  <a:pt x="1703527" y="0"/>
                </a:cubicBezTo>
                <a:cubicBezTo>
                  <a:pt x="1881236" y="-3722"/>
                  <a:pt x="1964350" y="10238"/>
                  <a:pt x="2172614" y="0"/>
                </a:cubicBezTo>
                <a:cubicBezTo>
                  <a:pt x="2380878" y="-10238"/>
                  <a:pt x="2652196" y="-22475"/>
                  <a:pt x="2789834" y="0"/>
                </a:cubicBezTo>
                <a:cubicBezTo>
                  <a:pt x="2927472" y="22475"/>
                  <a:pt x="3160003" y="7911"/>
                  <a:pt x="3357677" y="0"/>
                </a:cubicBezTo>
                <a:cubicBezTo>
                  <a:pt x="3555351" y="-7911"/>
                  <a:pt x="3723575" y="-14515"/>
                  <a:pt x="4024274" y="0"/>
                </a:cubicBezTo>
                <a:cubicBezTo>
                  <a:pt x="4324973" y="14515"/>
                  <a:pt x="4666192" y="-31217"/>
                  <a:pt x="4937760" y="0"/>
                </a:cubicBezTo>
                <a:cubicBezTo>
                  <a:pt x="4937817" y="6776"/>
                  <a:pt x="4936595" y="20935"/>
                  <a:pt x="4937760" y="27432"/>
                </a:cubicBezTo>
                <a:cubicBezTo>
                  <a:pt x="4605662" y="51747"/>
                  <a:pt x="4434779" y="15280"/>
                  <a:pt x="4221785" y="27432"/>
                </a:cubicBezTo>
                <a:cubicBezTo>
                  <a:pt x="4008791" y="39584"/>
                  <a:pt x="3840732" y="43619"/>
                  <a:pt x="3653942" y="27432"/>
                </a:cubicBezTo>
                <a:cubicBezTo>
                  <a:pt x="3467152" y="11245"/>
                  <a:pt x="3368269" y="7352"/>
                  <a:pt x="3086100" y="27432"/>
                </a:cubicBezTo>
                <a:cubicBezTo>
                  <a:pt x="2803931" y="47512"/>
                  <a:pt x="2806928" y="31440"/>
                  <a:pt x="2567635" y="27432"/>
                </a:cubicBezTo>
                <a:cubicBezTo>
                  <a:pt x="2328342" y="23424"/>
                  <a:pt x="2237209" y="34202"/>
                  <a:pt x="1999793" y="27432"/>
                </a:cubicBezTo>
                <a:cubicBezTo>
                  <a:pt x="1762377" y="20662"/>
                  <a:pt x="1753212" y="30829"/>
                  <a:pt x="1530706" y="27432"/>
                </a:cubicBezTo>
                <a:cubicBezTo>
                  <a:pt x="1308200" y="24035"/>
                  <a:pt x="1164917" y="444"/>
                  <a:pt x="962863" y="27432"/>
                </a:cubicBezTo>
                <a:cubicBezTo>
                  <a:pt x="760809" y="54420"/>
                  <a:pt x="232406" y="72726"/>
                  <a:pt x="0" y="27432"/>
                </a:cubicBezTo>
                <a:cubicBezTo>
                  <a:pt x="-234" y="21031"/>
                  <a:pt x="-921" y="632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oogle Shape;232;g3ae02aae0e2_0_3" title="Kaggle Score .png">
            <a:extLst>
              <a:ext uri="{FF2B5EF4-FFF2-40B4-BE49-F238E27FC236}">
                <a16:creationId xmlns:a16="http://schemas.microsoft.com/office/drawing/2014/main" id="{E77AFE51-27DC-C5E8-8B29-C3B5872245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61062" y="3865018"/>
            <a:ext cx="13815753" cy="3060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56548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64234" y="-380505"/>
            <a:ext cx="2741457" cy="2065483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7461" y="633219"/>
            <a:ext cx="968052" cy="968052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5065223" y="982710"/>
            <a:ext cx="1031208" cy="103120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4034964" y="0"/>
            <a:ext cx="4253036" cy="2221255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964516" y="9173251"/>
            <a:ext cx="2241769" cy="111374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handshake&#10;&#10;AI-generated content may be incorrect.">
            <a:extLst>
              <a:ext uri="{FF2B5EF4-FFF2-40B4-BE49-F238E27FC236}">
                <a16:creationId xmlns:a16="http://schemas.microsoft.com/office/drawing/2014/main" id="{CCC79F4D-7378-F9E8-52FE-23BBCA606A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91" b="1836"/>
          <a:stretch>
            <a:fillRect/>
          </a:stretch>
        </p:blipFill>
        <p:spPr>
          <a:xfrm>
            <a:off x="965200" y="1909700"/>
            <a:ext cx="16357599" cy="6467597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406120" y="9679714"/>
            <a:ext cx="1222354" cy="607286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560</Words>
  <Application>Microsoft Macintosh PowerPoint</Application>
  <PresentationFormat>Custom</PresentationFormat>
  <Paragraphs>107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Urbanist Medium</vt:lpstr>
      <vt:lpstr>Urbanist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Amiya Sahoo</cp:lastModifiedBy>
  <cp:revision>3</cp:revision>
  <dcterms:created xsi:type="dcterms:W3CDTF">2006-08-16T00:00:00Z</dcterms:created>
  <dcterms:modified xsi:type="dcterms:W3CDTF">2025-12-06T05:33:01Z</dcterms:modified>
</cp:coreProperties>
</file>